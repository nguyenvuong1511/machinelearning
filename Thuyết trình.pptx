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5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66" r:id="rId15"/>
    <p:sldId id="268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39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1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92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95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100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101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104" name="Google Shape;776;p1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108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111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119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" name="Google Shape;1283;p29"/>
          <p:cNvGrpSpPr/>
          <p:nvPr/>
        </p:nvGrpSpPr>
        <p:grpSpPr>
          <a:xfrm>
            <a:off x="-291600" y="-494280"/>
            <a:ext cx="1448280" cy="2238120"/>
            <a:chOff x="-291600" y="-494280"/>
            <a:chExt cx="1448280" cy="2238120"/>
          </a:xfrm>
        </p:grpSpPr>
        <p:grpSp>
          <p:nvGrpSpPr>
            <p:cNvPr id="129" name="Google Shape;1284;p29"/>
            <p:cNvGrpSpPr/>
            <p:nvPr/>
          </p:nvGrpSpPr>
          <p:grpSpPr>
            <a:xfrm>
              <a:off x="-258120" y="-241560"/>
              <a:ext cx="981360" cy="1985400"/>
              <a:chOff x="-258120" y="-241560"/>
              <a:chExt cx="981360" cy="1985400"/>
            </a:xfrm>
          </p:grpSpPr>
          <p:sp>
            <p:nvSpPr>
              <p:cNvPr id="130" name="Google Shape;1285;p29"/>
              <p:cNvSpPr/>
              <p:nvPr/>
            </p:nvSpPr>
            <p:spPr>
              <a:xfrm rot="10800000">
                <a:off x="-257760" y="-24156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286;p29"/>
              <p:cNvSpPr/>
              <p:nvPr/>
            </p:nvSpPr>
            <p:spPr>
              <a:xfrm rot="10800000">
                <a:off x="-120600" y="-24120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" name="Google Shape;1287;p29"/>
            <p:cNvGrpSpPr/>
            <p:nvPr/>
          </p:nvGrpSpPr>
          <p:grpSpPr>
            <a:xfrm>
              <a:off x="381600" y="794520"/>
              <a:ext cx="699120" cy="478080"/>
              <a:chOff x="381600" y="794520"/>
              <a:chExt cx="699120" cy="478080"/>
            </a:xfrm>
          </p:grpSpPr>
          <p:grpSp>
            <p:nvGrpSpPr>
              <p:cNvPr id="133" name="Google Shape;1288;p29"/>
              <p:cNvGrpSpPr/>
              <p:nvPr/>
            </p:nvGrpSpPr>
            <p:grpSpPr>
              <a:xfrm>
                <a:off x="381600" y="794520"/>
                <a:ext cx="478080" cy="478080"/>
                <a:chOff x="381600" y="794520"/>
                <a:chExt cx="478080" cy="478080"/>
              </a:xfrm>
            </p:grpSpPr>
            <p:sp>
              <p:nvSpPr>
                <p:cNvPr id="134" name="Google Shape;1289;p29"/>
                <p:cNvSpPr/>
                <p:nvPr/>
              </p:nvSpPr>
              <p:spPr>
                <a:xfrm rot="2700000">
                  <a:off x="447840" y="8679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35" name="Google Shape;1290;p29"/>
                <p:cNvGrpSpPr/>
                <p:nvPr/>
              </p:nvGrpSpPr>
              <p:grpSpPr>
                <a:xfrm>
                  <a:off x="426600" y="895680"/>
                  <a:ext cx="387360" cy="222840"/>
                  <a:chOff x="426600" y="895680"/>
                  <a:chExt cx="387360" cy="222840"/>
                </a:xfrm>
              </p:grpSpPr>
              <p:sp>
                <p:nvSpPr>
                  <p:cNvPr id="136" name="Google Shape;1291;p29"/>
                  <p:cNvSpPr/>
                  <p:nvPr/>
                </p:nvSpPr>
                <p:spPr>
                  <a:xfrm rot="2700000">
                    <a:off x="45936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7" name="Google Shape;1292;p29"/>
                  <p:cNvSpPr/>
                  <p:nvPr/>
                </p:nvSpPr>
                <p:spPr>
                  <a:xfrm rot="2700000">
                    <a:off x="50040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8" name="Google Shape;1293;p29"/>
                  <p:cNvSpPr/>
                  <p:nvPr/>
                </p:nvSpPr>
                <p:spPr>
                  <a:xfrm rot="2700000">
                    <a:off x="54144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1294;p29"/>
                  <p:cNvSpPr/>
                  <p:nvPr/>
                </p:nvSpPr>
                <p:spPr>
                  <a:xfrm rot="2700000">
                    <a:off x="58248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0" name="Google Shape;1295;p29"/>
                  <p:cNvSpPr/>
                  <p:nvPr/>
                </p:nvSpPr>
                <p:spPr>
                  <a:xfrm rot="2700000">
                    <a:off x="62352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41" name="Google Shape;1296;p29"/>
              <p:cNvSpPr/>
              <p:nvPr/>
            </p:nvSpPr>
            <p:spPr>
              <a:xfrm rot="18900000">
                <a:off x="712800" y="87408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2" name="Google Shape;1297;p29"/>
            <p:cNvGrpSpPr/>
            <p:nvPr/>
          </p:nvGrpSpPr>
          <p:grpSpPr>
            <a:xfrm>
              <a:off x="-291600" y="-494280"/>
              <a:ext cx="1047240" cy="1351080"/>
              <a:chOff x="-291600" y="-494280"/>
              <a:chExt cx="1047240" cy="1351080"/>
            </a:xfrm>
          </p:grpSpPr>
          <p:sp>
            <p:nvSpPr>
              <p:cNvPr id="143" name="Google Shape;1298;p29"/>
              <p:cNvSpPr/>
              <p:nvPr/>
            </p:nvSpPr>
            <p:spPr>
              <a:xfrm rot="13500000">
                <a:off x="55080" y="159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1299;p29"/>
              <p:cNvSpPr/>
              <p:nvPr/>
            </p:nvSpPr>
            <p:spPr>
              <a:xfrm rot="13500000">
                <a:off x="-20520" y="-24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1300;p29"/>
              <p:cNvSpPr/>
              <p:nvPr/>
            </p:nvSpPr>
            <p:spPr>
              <a:xfrm rot="13500000">
                <a:off x="-96840" y="-18864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301;p29"/>
              <p:cNvSpPr/>
              <p:nvPr/>
            </p:nvSpPr>
            <p:spPr>
              <a:xfrm rot="13500000">
                <a:off x="-173160" y="-372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" name="Google Shape;1302;p29"/>
            <p:cNvGrpSpPr/>
            <p:nvPr/>
          </p:nvGrpSpPr>
          <p:grpSpPr>
            <a:xfrm>
              <a:off x="457560" y="455040"/>
              <a:ext cx="699120" cy="478080"/>
              <a:chOff x="457560" y="455040"/>
              <a:chExt cx="699120" cy="478080"/>
            </a:xfrm>
          </p:grpSpPr>
          <p:grpSp>
            <p:nvGrpSpPr>
              <p:cNvPr id="148" name="Google Shape;1303;p29"/>
              <p:cNvGrpSpPr/>
              <p:nvPr/>
            </p:nvGrpSpPr>
            <p:grpSpPr>
              <a:xfrm>
                <a:off x="457560" y="455040"/>
                <a:ext cx="478080" cy="478080"/>
                <a:chOff x="457560" y="455040"/>
                <a:chExt cx="478080" cy="478080"/>
              </a:xfrm>
            </p:grpSpPr>
            <p:sp>
              <p:nvSpPr>
                <p:cNvPr id="149" name="Google Shape;1304;p29"/>
                <p:cNvSpPr/>
                <p:nvPr/>
              </p:nvSpPr>
              <p:spPr>
                <a:xfrm rot="2700000">
                  <a:off x="523800" y="5284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50" name="Google Shape;1305;p29"/>
                <p:cNvGrpSpPr/>
                <p:nvPr/>
              </p:nvGrpSpPr>
              <p:grpSpPr>
                <a:xfrm>
                  <a:off x="502200" y="556200"/>
                  <a:ext cx="387360" cy="222840"/>
                  <a:chOff x="502200" y="556200"/>
                  <a:chExt cx="387360" cy="222840"/>
                </a:xfrm>
              </p:grpSpPr>
              <p:sp>
                <p:nvSpPr>
                  <p:cNvPr id="151" name="Google Shape;1306;p29"/>
                  <p:cNvSpPr/>
                  <p:nvPr/>
                </p:nvSpPr>
                <p:spPr>
                  <a:xfrm rot="2700000">
                    <a:off x="53496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2" name="Google Shape;1307;p29"/>
                  <p:cNvSpPr/>
                  <p:nvPr/>
                </p:nvSpPr>
                <p:spPr>
                  <a:xfrm rot="2700000">
                    <a:off x="57600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3" name="Google Shape;1308;p29"/>
                  <p:cNvSpPr/>
                  <p:nvPr/>
                </p:nvSpPr>
                <p:spPr>
                  <a:xfrm rot="2700000">
                    <a:off x="61704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4" name="Google Shape;1309;p29"/>
                  <p:cNvSpPr/>
                  <p:nvPr/>
                </p:nvSpPr>
                <p:spPr>
                  <a:xfrm rot="2700000">
                    <a:off x="65808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5" name="Google Shape;1310;p29"/>
                  <p:cNvSpPr/>
                  <p:nvPr/>
                </p:nvSpPr>
                <p:spPr>
                  <a:xfrm rot="2700000">
                    <a:off x="69912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56" name="Google Shape;1311;p29"/>
              <p:cNvSpPr/>
              <p:nvPr/>
            </p:nvSpPr>
            <p:spPr>
              <a:xfrm rot="18900000">
                <a:off x="788760" y="5346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7" name="Google Shape;1312;p29"/>
            <p:cNvGrpSpPr/>
            <p:nvPr/>
          </p:nvGrpSpPr>
          <p:grpSpPr>
            <a:xfrm>
              <a:off x="-46800" y="511560"/>
              <a:ext cx="699120" cy="478080"/>
              <a:chOff x="-46800" y="511560"/>
              <a:chExt cx="699120" cy="478080"/>
            </a:xfrm>
          </p:grpSpPr>
          <p:grpSp>
            <p:nvGrpSpPr>
              <p:cNvPr id="158" name="Google Shape;1313;p29"/>
              <p:cNvGrpSpPr/>
              <p:nvPr/>
            </p:nvGrpSpPr>
            <p:grpSpPr>
              <a:xfrm>
                <a:off x="-46800" y="511560"/>
                <a:ext cx="478080" cy="478080"/>
                <a:chOff x="-46800" y="511560"/>
                <a:chExt cx="478080" cy="478080"/>
              </a:xfrm>
            </p:grpSpPr>
            <p:sp>
              <p:nvSpPr>
                <p:cNvPr id="159" name="Google Shape;1314;p29"/>
                <p:cNvSpPr/>
                <p:nvPr/>
              </p:nvSpPr>
              <p:spPr>
                <a:xfrm rot="2700000">
                  <a:off x="19440" y="5850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60" name="Google Shape;1315;p29"/>
                <p:cNvGrpSpPr/>
                <p:nvPr/>
              </p:nvGrpSpPr>
              <p:grpSpPr>
                <a:xfrm>
                  <a:off x="-1800" y="612360"/>
                  <a:ext cx="387360" cy="223200"/>
                  <a:chOff x="-1800" y="612360"/>
                  <a:chExt cx="387360" cy="223200"/>
                </a:xfrm>
              </p:grpSpPr>
              <p:sp>
                <p:nvSpPr>
                  <p:cNvPr id="161" name="Google Shape;1316;p29"/>
                  <p:cNvSpPr/>
                  <p:nvPr/>
                </p:nvSpPr>
                <p:spPr>
                  <a:xfrm rot="2700000">
                    <a:off x="3060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2" name="Google Shape;1317;p29"/>
                  <p:cNvSpPr/>
                  <p:nvPr/>
                </p:nvSpPr>
                <p:spPr>
                  <a:xfrm rot="2700000">
                    <a:off x="7164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3" name="Google Shape;1318;p29"/>
                  <p:cNvSpPr/>
                  <p:nvPr/>
                </p:nvSpPr>
                <p:spPr>
                  <a:xfrm rot="2700000">
                    <a:off x="11268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4" name="Google Shape;1319;p29"/>
                  <p:cNvSpPr/>
                  <p:nvPr/>
                </p:nvSpPr>
                <p:spPr>
                  <a:xfrm rot="2700000">
                    <a:off x="15372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5" name="Google Shape;1320;p29"/>
                  <p:cNvSpPr/>
                  <p:nvPr/>
                </p:nvSpPr>
                <p:spPr>
                  <a:xfrm rot="2700000">
                    <a:off x="19512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66" name="Google Shape;1321;p29"/>
              <p:cNvSpPr/>
              <p:nvPr/>
            </p:nvSpPr>
            <p:spPr>
              <a:xfrm rot="18900000">
                <a:off x="284400" y="5907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" name="Google Shape;1322;p29"/>
          <p:cNvGrpSpPr/>
          <p:nvPr/>
        </p:nvGrpSpPr>
        <p:grpSpPr>
          <a:xfrm>
            <a:off x="2660400" y="4275720"/>
            <a:ext cx="4950720" cy="2991960"/>
            <a:chOff x="2660400" y="4275720"/>
            <a:chExt cx="4950720" cy="2991960"/>
          </a:xfrm>
        </p:grpSpPr>
        <p:pic>
          <p:nvPicPr>
            <p:cNvPr id="168" name="Google Shape;1323;p29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 rot="10800000">
              <a:off x="2660400" y="427572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9" name="Google Shape;1324;p29"/>
            <p:cNvGrpSpPr/>
            <p:nvPr/>
          </p:nvGrpSpPr>
          <p:grpSpPr>
            <a:xfrm>
              <a:off x="2952720" y="4719240"/>
              <a:ext cx="1517400" cy="906480"/>
              <a:chOff x="2952720" y="4719240"/>
              <a:chExt cx="1517400" cy="906480"/>
            </a:xfrm>
          </p:grpSpPr>
          <p:sp>
            <p:nvSpPr>
              <p:cNvPr id="170" name="Google Shape;1325;p29"/>
              <p:cNvSpPr/>
              <p:nvPr/>
            </p:nvSpPr>
            <p:spPr>
              <a:xfrm>
                <a:off x="2952720" y="477828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326;p29"/>
              <p:cNvSpPr/>
              <p:nvPr/>
            </p:nvSpPr>
            <p:spPr>
              <a:xfrm>
                <a:off x="3530880" y="4835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1327;p29"/>
              <p:cNvSpPr/>
              <p:nvPr/>
            </p:nvSpPr>
            <p:spPr>
              <a:xfrm>
                <a:off x="3409920" y="50688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8;p29"/>
              <p:cNvSpPr/>
              <p:nvPr/>
            </p:nvSpPr>
            <p:spPr>
              <a:xfrm>
                <a:off x="3888360" y="47192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4" name="Google Shape;1329;p29"/>
            <p:cNvGrpSpPr/>
            <p:nvPr/>
          </p:nvGrpSpPr>
          <p:grpSpPr>
            <a:xfrm>
              <a:off x="4778280" y="4462560"/>
              <a:ext cx="2832840" cy="1420560"/>
              <a:chOff x="4778280" y="4462560"/>
              <a:chExt cx="2832840" cy="1420560"/>
            </a:xfrm>
          </p:grpSpPr>
          <p:sp>
            <p:nvSpPr>
              <p:cNvPr id="175" name="Google Shape;1330;p29"/>
              <p:cNvSpPr/>
              <p:nvPr/>
            </p:nvSpPr>
            <p:spPr>
              <a:xfrm rot="16200000">
                <a:off x="5484240" y="375624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6" name="Google Shape;1331;p29"/>
              <p:cNvGrpSpPr/>
              <p:nvPr/>
            </p:nvGrpSpPr>
            <p:grpSpPr>
              <a:xfrm>
                <a:off x="6455160" y="5174280"/>
                <a:ext cx="161640" cy="161640"/>
                <a:chOff x="6455160" y="5174280"/>
                <a:chExt cx="161640" cy="161640"/>
              </a:xfrm>
            </p:grpSpPr>
            <p:sp>
              <p:nvSpPr>
                <p:cNvPr id="177" name="Google Shape;1332;p29"/>
                <p:cNvSpPr/>
                <p:nvPr/>
              </p:nvSpPr>
              <p:spPr>
                <a:xfrm rot="10800000">
                  <a:off x="6455160" y="517428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" name="Google Shape;1333;p29"/>
                <p:cNvSpPr/>
                <p:nvPr/>
              </p:nvSpPr>
              <p:spPr>
                <a:xfrm rot="10800000">
                  <a:off x="6487560" y="521100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9" name="Google Shape;1334;p29"/>
              <p:cNvGrpSpPr/>
              <p:nvPr/>
            </p:nvGrpSpPr>
            <p:grpSpPr>
              <a:xfrm>
                <a:off x="5072400" y="4755960"/>
                <a:ext cx="161640" cy="161640"/>
                <a:chOff x="5072400" y="4755960"/>
                <a:chExt cx="161640" cy="161640"/>
              </a:xfrm>
            </p:grpSpPr>
            <p:sp>
              <p:nvSpPr>
                <p:cNvPr id="180" name="Google Shape;1335;p29"/>
                <p:cNvSpPr/>
                <p:nvPr/>
              </p:nvSpPr>
              <p:spPr>
                <a:xfrm>
                  <a:off x="5072400" y="475596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" name="Google Shape;1336;p29"/>
                <p:cNvSpPr/>
                <p:nvPr/>
              </p:nvSpPr>
              <p:spPr>
                <a:xfrm>
                  <a:off x="5104800" y="47926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82" name="Google Shape;1337;p29"/>
          <p:cNvSpPr/>
          <p:nvPr/>
        </p:nvSpPr>
        <p:spPr>
          <a:xfrm>
            <a:off x="1157400" y="3476880"/>
            <a:ext cx="5319720" cy="6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5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6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88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89" name="Google Shape;144;p4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0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91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3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4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95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96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97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9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200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2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203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205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206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8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209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210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3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5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216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1432;p35"/>
          <p:cNvGrpSpPr/>
          <p:nvPr/>
        </p:nvGrpSpPr>
        <p:grpSpPr>
          <a:xfrm>
            <a:off x="3906360" y="1790719"/>
            <a:ext cx="3936600" cy="133560"/>
            <a:chOff x="1096560" y="3242880"/>
            <a:chExt cx="3936600" cy="133560"/>
          </a:xfrm>
        </p:grpSpPr>
        <p:cxnSp>
          <p:nvCxnSpPr>
            <p:cNvPr id="222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223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224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6" name="Google Shape;1437;p35"/>
          <p:cNvGrpSpPr/>
          <p:nvPr/>
        </p:nvGrpSpPr>
        <p:grpSpPr>
          <a:xfrm>
            <a:off x="3830220" y="1281620"/>
            <a:ext cx="133560" cy="1890360"/>
            <a:chOff x="8017920" y="-313560"/>
            <a:chExt cx="133560" cy="1890360"/>
          </a:xfrm>
        </p:grpSpPr>
        <p:sp>
          <p:nvSpPr>
            <p:cNvPr id="227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28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229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0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231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32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233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4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5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236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8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239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41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" name="Google Shape;190;p35">
            <a:extLst>
              <a:ext uri="{FF2B5EF4-FFF2-40B4-BE49-F238E27FC236}">
                <a16:creationId xmlns:a16="http://schemas.microsoft.com/office/drawing/2014/main" id="{F9D40DF4-14BE-40B6-A5E9-13D5A4B91304}"/>
              </a:ext>
            </a:extLst>
          </p:cNvPr>
          <p:cNvSpPr txBox="1">
            <a:spLocks/>
          </p:cNvSpPr>
          <p:nvPr/>
        </p:nvSpPr>
        <p:spPr>
          <a:xfrm>
            <a:off x="3889372" y="1337582"/>
            <a:ext cx="4023155" cy="511018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b="1" dirty="0">
                <a:latin typeface="Alexandria" charset="-78"/>
                <a:cs typeface="Alexandria" panose="020B0604020202020204" charset="-78"/>
              </a:rPr>
              <a:t>HỌC MÁY CƠ BẢN</a:t>
            </a:r>
          </a:p>
        </p:txBody>
      </p:sp>
      <p:sp>
        <p:nvSpPr>
          <p:cNvPr id="26" name="Google Shape;191;p35">
            <a:extLst>
              <a:ext uri="{FF2B5EF4-FFF2-40B4-BE49-F238E27FC236}">
                <a16:creationId xmlns:a16="http://schemas.microsoft.com/office/drawing/2014/main" id="{DDA88FF5-FD4E-438E-83CF-FE0D945B6FDA}"/>
              </a:ext>
            </a:extLst>
          </p:cNvPr>
          <p:cNvSpPr txBox="1">
            <a:spLocks/>
          </p:cNvSpPr>
          <p:nvPr/>
        </p:nvSpPr>
        <p:spPr>
          <a:xfrm>
            <a:off x="2819587" y="285372"/>
            <a:ext cx="5862382" cy="511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vi-VN" sz="1400" b="1" dirty="0">
                <a:latin typeface="Alexandria" charset="-78"/>
                <a:cs typeface="Alexandria" panose="020B0604020202020204" charset="-78"/>
              </a:rPr>
              <a:t>TRƯỜNG ĐẠI HỌC </a:t>
            </a:r>
            <a:r>
              <a:rPr lang="en-US" sz="1400" b="1" dirty="0">
                <a:latin typeface="Alexandria" charset="-78"/>
                <a:cs typeface="Alexandria" panose="020B0604020202020204" charset="-78"/>
              </a:rPr>
              <a:t>CÔNG NGHỆ</a:t>
            </a:r>
            <a:r>
              <a:rPr lang="vi-VN" sz="1400" b="1" dirty="0">
                <a:latin typeface="Alexandria" charset="-78"/>
                <a:cs typeface="Alexandria" panose="020B0604020202020204" charset="-78"/>
              </a:rPr>
              <a:t> KỸ THUẬT HƯNG YÊN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vi-VN" sz="1400" dirty="0">
                <a:latin typeface="Alexandria" charset="-78"/>
                <a:cs typeface="Alexandria" panose="020B0604020202020204" charset="-78"/>
              </a:rPr>
              <a:t>KHOA CÔNG NGHỆ THÔNG TIN</a:t>
            </a: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B911AED4-93D7-4F27-B89D-5614775CDA63}"/>
              </a:ext>
            </a:extLst>
          </p:cNvPr>
          <p:cNvSpPr txBox="1"/>
          <p:nvPr/>
        </p:nvSpPr>
        <p:spPr>
          <a:xfrm>
            <a:off x="3970045" y="1862356"/>
            <a:ext cx="38250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effectLst/>
                <a:latin typeface="Alexandria" charset="-78"/>
                <a:ea typeface="Arial" panose="020B0604020202020204" pitchFamily="34" charset="0"/>
                <a:cs typeface="Alexandria" charset="-78"/>
              </a:rPr>
              <a:t>GỢI Ý SẢN PHẨM MUA KÈM TỪ HÓA ĐƠN BÁN LẺ</a:t>
            </a:r>
            <a:endParaRPr lang="en-US" sz="1600" dirty="0">
              <a:latin typeface="Alexandria" charset="-78"/>
              <a:cs typeface="Alexandria" panose="020B0604020202020204" charset="-78"/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A7B94D5A-99F6-4F67-9A74-825E1C3E45F6}"/>
              </a:ext>
            </a:extLst>
          </p:cNvPr>
          <p:cNvSpPr txBox="1"/>
          <p:nvPr/>
        </p:nvSpPr>
        <p:spPr>
          <a:xfrm>
            <a:off x="869539" y="3037305"/>
            <a:ext cx="4511561" cy="134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sz="1400" dirty="0">
                <a:solidFill>
                  <a:srgbClr val="15110E"/>
                </a:solidFill>
                <a:latin typeface="Alexandria" panose="020B0604020202020204" charset="-78"/>
                <a:cs typeface="Alexandria" panose="020B0604020202020204" charset="-78"/>
              </a:rPr>
              <a:t>Giáo viên hướng dẫn: PGS.TS. Nguyễn Văn Hậu</a:t>
            </a:r>
          </a:p>
          <a:p>
            <a:pPr>
              <a:lnSpc>
                <a:spcPct val="150000"/>
              </a:lnSpc>
            </a:pPr>
            <a:r>
              <a:rPr lang="en" sz="1400" dirty="0">
                <a:solidFill>
                  <a:srgbClr val="15110E"/>
                </a:solidFill>
                <a:latin typeface="Alexandria" panose="020B0604020202020204" charset="-78"/>
                <a:cs typeface="Alexandria" panose="020B0604020202020204" charset="-78"/>
              </a:rPr>
              <a:t>Người thực hiện: Nguyễn Minh Vương - 10123369</a:t>
            </a:r>
          </a:p>
          <a:p>
            <a:pPr>
              <a:lnSpc>
                <a:spcPct val="150000"/>
              </a:lnSpc>
            </a:pPr>
            <a:r>
              <a:rPr lang="en" sz="1400" dirty="0">
                <a:solidFill>
                  <a:srgbClr val="15110E"/>
                </a:solidFill>
                <a:latin typeface="Alexandria" panose="020B0604020202020204" charset="-78"/>
                <a:cs typeface="Alexandria" panose="020B0604020202020204" charset="-78"/>
              </a:rPr>
              <a:t>	             Đào Thị Thanh - 10123293</a:t>
            </a:r>
          </a:p>
          <a:p>
            <a:pPr>
              <a:lnSpc>
                <a:spcPct val="150000"/>
              </a:lnSpc>
            </a:pPr>
            <a:r>
              <a:rPr lang="en" sz="1400" dirty="0">
                <a:solidFill>
                  <a:srgbClr val="15110E"/>
                </a:solidFill>
                <a:latin typeface="Alexandria" panose="020B0604020202020204" charset="-78"/>
                <a:cs typeface="Alexandria" panose="020B0604020202020204" charset="-78"/>
              </a:rPr>
              <a:t>Lớp: 12523W.1</a:t>
            </a:r>
            <a:endParaRPr lang="en-US" sz="1400" dirty="0">
              <a:solidFill>
                <a:srgbClr val="15110E"/>
              </a:solidFill>
            </a:endParaRPr>
          </a:p>
        </p:txBody>
      </p:sp>
      <p:pic>
        <p:nvPicPr>
          <p:cNvPr id="30" name="Hình ảnh 29">
            <a:extLst>
              <a:ext uri="{FF2B5EF4-FFF2-40B4-BE49-F238E27FC236}">
                <a16:creationId xmlns:a16="http://schemas.microsoft.com/office/drawing/2014/main" id="{47477FC3-5E46-4969-A9B5-A8112389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447" y="260460"/>
            <a:ext cx="550456" cy="560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1534;p39"/>
          <p:cNvGrpSpPr/>
          <p:nvPr/>
        </p:nvGrpSpPr>
        <p:grpSpPr>
          <a:xfrm>
            <a:off x="360" y="4132440"/>
            <a:ext cx="2307960" cy="1140480"/>
            <a:chOff x="360" y="4132440"/>
            <a:chExt cx="2307960" cy="1140480"/>
          </a:xfrm>
        </p:grpSpPr>
        <p:sp>
          <p:nvSpPr>
            <p:cNvPr id="246" name="Google Shape;1535;p39"/>
            <p:cNvSpPr/>
            <p:nvPr/>
          </p:nvSpPr>
          <p:spPr>
            <a:xfrm rot="5400000">
              <a:off x="663480" y="36284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536;p39"/>
            <p:cNvSpPr/>
            <p:nvPr/>
          </p:nvSpPr>
          <p:spPr>
            <a:xfrm rot="5400000">
              <a:off x="663840" y="34693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" name="Google Shape;208;p37">
            <a:extLst>
              <a:ext uri="{FF2B5EF4-FFF2-40B4-BE49-F238E27FC236}">
                <a16:creationId xmlns:a16="http://schemas.microsoft.com/office/drawing/2014/main" id="{9B4C69D8-481A-4C1E-AC4C-1FC0042D3ED9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Bối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cảnh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&amp;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câu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hỏi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nghiên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cứu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5110E"/>
              </a:solidFill>
              <a:effectLst/>
              <a:uLnTx/>
              <a:uFillTx/>
              <a:latin typeface="Alexandria" pitchFamily="2" charset="-78"/>
              <a:cs typeface="Alexandria" pitchFamily="2" charset="-78"/>
              <a:sym typeface="Alexandria Medium"/>
            </a:endParaRPr>
          </a:p>
        </p:txBody>
      </p:sp>
      <p:sp>
        <p:nvSpPr>
          <p:cNvPr id="15" name="Google Shape;228;p38">
            <a:extLst>
              <a:ext uri="{FF2B5EF4-FFF2-40B4-BE49-F238E27FC236}">
                <a16:creationId xmlns:a16="http://schemas.microsoft.com/office/drawing/2014/main" id="{C3B177B0-C0A0-4B80-A14A-4939A0423723}"/>
              </a:ext>
            </a:extLst>
          </p:cNvPr>
          <p:cNvSpPr txBox="1">
            <a:spLocks/>
          </p:cNvSpPr>
          <p:nvPr/>
        </p:nvSpPr>
        <p:spPr>
          <a:xfrm>
            <a:off x="439480" y="843318"/>
            <a:ext cx="8286306" cy="384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Cửa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hàng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trực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tuyến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muốn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gợi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ý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thường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mua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cùng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nhau → tăng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khả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năng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khám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phá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Câu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hỏi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nghiên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cứu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Biểu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diễn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vector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hóa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đơn/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khách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hàng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kết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hợp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similarity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có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tạo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ra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gợi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ý mua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kèm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hợp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lý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hơn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đơn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giản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không?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Cách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tiếp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cận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đơn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giản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minh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bạch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dễ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kiểm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chứng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— không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dùng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deep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learning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Yêu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cầu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bắt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buộc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pipeline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tái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lập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được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chống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rò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rỉ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dữ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liệu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so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với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có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ứng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dụng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web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8;p37">
            <a:extLst>
              <a:ext uri="{FF2B5EF4-FFF2-40B4-BE49-F238E27FC236}">
                <a16:creationId xmlns:a16="http://schemas.microsoft.com/office/drawing/2014/main" id="{A3839615-B54F-4FDC-B292-79C4F2AEF1CD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Dữ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liệu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sử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dụng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(Online Retail II)</a:t>
            </a:r>
          </a:p>
        </p:txBody>
      </p:sp>
      <p:sp>
        <p:nvSpPr>
          <p:cNvPr id="8" name="Google Shape;228;p38">
            <a:extLst>
              <a:ext uri="{FF2B5EF4-FFF2-40B4-BE49-F238E27FC236}">
                <a16:creationId xmlns:a16="http://schemas.microsoft.com/office/drawing/2014/main" id="{539074FE-7A1A-4FA3-A142-8B797E19D075}"/>
              </a:ext>
            </a:extLst>
          </p:cNvPr>
          <p:cNvSpPr txBox="1">
            <a:spLocks/>
          </p:cNvSpPr>
          <p:nvPr/>
        </p:nvSpPr>
        <p:spPr>
          <a:xfrm>
            <a:off x="439480" y="843318"/>
            <a:ext cx="8286306" cy="186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Nguồn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UCI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Machine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Learning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Repository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giấy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phép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CC BY 4.0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Quy mô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gốc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1.067.371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dòng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giao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dịch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8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cột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từ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01/12/2009 – 09/12/2011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Vấn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đề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phát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hiện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243.007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dòng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(22,8%)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thiếu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Customer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ID; 34.335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dòng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trùng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lặp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hoàn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toàn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(do 2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sheet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chồng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9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ngày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)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F2323B10-8F0E-406F-844E-1996C767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02" y="2704836"/>
            <a:ext cx="4316596" cy="2006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534;p39">
            <a:extLst>
              <a:ext uri="{FF2B5EF4-FFF2-40B4-BE49-F238E27FC236}">
                <a16:creationId xmlns:a16="http://schemas.microsoft.com/office/drawing/2014/main" id="{761A911E-E94B-427C-B41C-6BA05F0CCA43}"/>
              </a:ext>
            </a:extLst>
          </p:cNvPr>
          <p:cNvGrpSpPr/>
          <p:nvPr/>
        </p:nvGrpSpPr>
        <p:grpSpPr>
          <a:xfrm>
            <a:off x="360" y="4132440"/>
            <a:ext cx="2307960" cy="1140480"/>
            <a:chOff x="360" y="4132440"/>
            <a:chExt cx="2307960" cy="1140480"/>
          </a:xfrm>
        </p:grpSpPr>
        <p:sp>
          <p:nvSpPr>
            <p:cNvPr id="3" name="Google Shape;1535;p39">
              <a:extLst>
                <a:ext uri="{FF2B5EF4-FFF2-40B4-BE49-F238E27FC236}">
                  <a16:creationId xmlns:a16="http://schemas.microsoft.com/office/drawing/2014/main" id="{CB580F59-C039-422D-AA1F-BF5F74F8F0EE}"/>
                </a:ext>
              </a:extLst>
            </p:cNvPr>
            <p:cNvSpPr/>
            <p:nvPr/>
          </p:nvSpPr>
          <p:spPr>
            <a:xfrm rot="5400000">
              <a:off x="663480" y="36284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536;p39">
              <a:extLst>
                <a:ext uri="{FF2B5EF4-FFF2-40B4-BE49-F238E27FC236}">
                  <a16:creationId xmlns:a16="http://schemas.microsoft.com/office/drawing/2014/main" id="{2C7BCA04-A63D-4DA9-85BA-A39566CEEAC9}"/>
                </a:ext>
              </a:extLst>
            </p:cNvPr>
            <p:cNvSpPr/>
            <p:nvPr/>
          </p:nvSpPr>
          <p:spPr>
            <a:xfrm rot="5400000">
              <a:off x="663840" y="34693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" name="Google Shape;208;p37">
            <a:extLst>
              <a:ext uri="{FF2B5EF4-FFF2-40B4-BE49-F238E27FC236}">
                <a16:creationId xmlns:a16="http://schemas.microsoft.com/office/drawing/2014/main" id="{DBB933A9-7845-405C-B2F1-B318A17CA20F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Khám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phá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dữ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liệu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trên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tập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train (EDA)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3F4E55CB-CB13-474F-A744-EAA8DA3CD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12" y="925648"/>
            <a:ext cx="3000332" cy="2250249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7D7E5688-70A7-4FF4-AC34-6C5B83475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972" y="925648"/>
            <a:ext cx="3000332" cy="2250249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542C06F9-3285-477A-B974-FC863581D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12" y="3335017"/>
            <a:ext cx="3590039" cy="1477073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C3439B1-7509-42A0-B5E7-C56D8E475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93" y="3335017"/>
            <a:ext cx="3271011" cy="14770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80357A93-4552-47D2-9239-B66F95F3C874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Phương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pháp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: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Vector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hóa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và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độ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tương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đồng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cosine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5110E"/>
              </a:solidFill>
              <a:effectLst/>
              <a:uLnTx/>
              <a:uFillTx/>
              <a:latin typeface="Alexandria" pitchFamily="2" charset="-78"/>
              <a:cs typeface="Alexandria" pitchFamily="2" charset="-78"/>
              <a:sym typeface="Alexandria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28;p38">
                <a:extLst>
                  <a:ext uri="{FF2B5EF4-FFF2-40B4-BE49-F238E27FC236}">
                    <a16:creationId xmlns:a16="http://schemas.microsoft.com/office/drawing/2014/main" id="{4D2D81AE-ACD0-456D-8552-4C88B2E67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9480" y="843318"/>
                <a:ext cx="5309190" cy="37995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●"/>
                  <a:defRPr sz="14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lbert Sans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defRPr>
                </a:lvl9pPr>
              </a:lstStyle>
              <a:p>
                <a:pPr marL="285750" indent="-285750">
                  <a:lnSpc>
                    <a:spcPct val="200000"/>
                  </a:lnSpc>
                </a:pP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Mỗi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sản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phẩm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= 1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vector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nhị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phân (0/1) theo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hóa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đơn (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item-invoice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)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hoặc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theo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khách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hàng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(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item-customer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)</a:t>
                </a:r>
                <a:endParaRPr lang="en-US" kern="0" dirty="0">
                  <a:latin typeface="Alexandria" panose="020B0604020202020204" charset="-78"/>
                  <a:cs typeface="Alexandria" panose="020B0604020202020204" charset="-78"/>
                </a:endParaRPr>
              </a:p>
              <a:p>
                <a:pPr marL="285750" indent="-285750">
                  <a:lnSpc>
                    <a:spcPct val="150000"/>
                  </a:lnSpc>
                </a:pP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Công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thức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vi-VN" i="0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cos</m:t>
                        </m:r>
                      </m:fName>
                      <m:e>
                        <m:r>
                          <a:rPr lang="en-US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(</m:t>
                        </m:r>
                        <m:r>
                          <a:rPr lang="en-US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𝐴</m:t>
                        </m:r>
                        <m:r>
                          <a:rPr lang="en-US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,</m:t>
                        </m:r>
                        <m:r>
                          <a:rPr lang="en-US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𝐵</m:t>
                        </m:r>
                        <m:r>
                          <a:rPr lang="en-US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)</m:t>
                        </m:r>
                      </m:e>
                    </m:func>
                  </m:oMath>
                </a14:m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</m:ctrlPr>
                      </m:fPr>
                      <m:num>
                        <m:r>
                          <a:rPr lang="en-US" sz="2000" b="0" i="1" kern="0" dirty="0" smtClean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𝐴</m:t>
                        </m:r>
                        <m:r>
                          <a:rPr lang="en-US" sz="2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lexandria" panose="020B0604020202020204" charset="-78"/>
                          </a:rPr>
                          <m:t>∙</m:t>
                        </m:r>
                        <m:r>
                          <a:rPr lang="en-US" sz="2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lexandria" panose="020B0604020202020204" charset="-78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vi-VN" sz="2000" i="1" kern="0" dirty="0">
                                <a:latin typeface="Cambria Math" panose="02040503050406030204" pitchFamily="18" charset="0"/>
                                <a:cs typeface="Alexandria" panose="020B0604020202020204" charset="-78"/>
                              </a:rPr>
                            </m:ctrlPr>
                          </m:dPr>
                          <m:e>
                            <m:r>
                              <a:rPr lang="vi-VN" sz="2000" i="1" kern="0" dirty="0">
                                <a:latin typeface="Cambria Math" panose="02040503050406030204" pitchFamily="18" charset="0"/>
                                <a:cs typeface="Alexandria" panose="020B0604020202020204" charset="-78"/>
                              </a:rPr>
                              <m:t>𝐴</m:t>
                            </m:r>
                          </m:e>
                        </m:d>
                        <m:r>
                          <a:rPr lang="vi-VN" sz="2000" i="1" kern="0" dirty="0">
                            <a:latin typeface="Cambria Math" panose="02040503050406030204" pitchFamily="18" charset="0"/>
                            <a:cs typeface="Alexandria" panose="020B0604020202020204" charset="-78"/>
                          </a:rPr>
                          <m:t>×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vi-VN" sz="2000" i="1" kern="0" dirty="0">
                                <a:latin typeface="Cambria Math" panose="02040503050406030204" pitchFamily="18" charset="0"/>
                                <a:cs typeface="Alexandria" panose="020B0604020202020204" charset="-78"/>
                              </a:rPr>
                            </m:ctrlPr>
                          </m:dPr>
                          <m:e>
                            <m:r>
                              <a:rPr lang="vi-VN" sz="2000" i="1" kern="0" dirty="0">
                                <a:latin typeface="Cambria Math" panose="02040503050406030204" pitchFamily="18" charset="0"/>
                                <a:cs typeface="Alexandria" panose="020B0604020202020204" charset="-78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en-US" kern="0" dirty="0">
                    <a:latin typeface="Alexandria" panose="020B0604020202020204" charset="-78"/>
                    <a:cs typeface="Alexandria" panose="020B0604020202020204" charset="-78"/>
                  </a:rPr>
                  <a:t>  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giá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trị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từ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0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đến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1</a:t>
                </a:r>
                <a:endParaRPr lang="en-US" kern="0" dirty="0">
                  <a:latin typeface="Alexandria" panose="020B0604020202020204" charset="-78"/>
                  <a:cs typeface="Alexandria" panose="020B0604020202020204" charset="-78"/>
                </a:endParaRPr>
              </a:p>
              <a:p>
                <a:pPr marL="285750" indent="-285750">
                  <a:lnSpc>
                    <a:spcPct val="200000"/>
                  </a:lnSpc>
                </a:pP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Giấu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1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sản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phẩm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trong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giỏ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hàng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→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dùng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các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sản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phẩm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còn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lại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tính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điểm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=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tổng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cosine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→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lấy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Top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-K</a:t>
                </a:r>
                <a:endParaRPr lang="en-US" kern="0" dirty="0">
                  <a:latin typeface="Alexandria" panose="020B0604020202020204" charset="-78"/>
                  <a:cs typeface="Alexandria" panose="020B0604020202020204" charset="-78"/>
                </a:endParaRPr>
              </a:p>
              <a:p>
                <a:pPr marL="285750" indent="-285750">
                  <a:lnSpc>
                    <a:spcPct val="200000"/>
                  </a:lnSpc>
                </a:pP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Chống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rò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rỉ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dữ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liệu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: chia theo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hóa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đơn (không theo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dòng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),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min_freq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và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ma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trận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cosine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chỉ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tính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từ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train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,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test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chỉ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chạy</a:t>
                </a:r>
                <a:r>
                  <a:rPr lang="vi-VN" kern="0" dirty="0">
                    <a:latin typeface="Alexandria" panose="020B0604020202020204" charset="-78"/>
                    <a:cs typeface="Alexandria" panose="020B0604020202020204" charset="-78"/>
                  </a:rPr>
                  <a:t> 1 </a:t>
                </a:r>
                <a:r>
                  <a:rPr lang="vi-VN" kern="0" dirty="0" err="1">
                    <a:latin typeface="Alexandria" panose="020B0604020202020204" charset="-78"/>
                    <a:cs typeface="Alexandria" panose="020B0604020202020204" charset="-78"/>
                  </a:rPr>
                  <a:t>lần</a:t>
                </a:r>
                <a:endParaRPr lang="en-US" kern="0" dirty="0">
                  <a:latin typeface="Alexandria" panose="020B0604020202020204" charset="-78"/>
                  <a:cs typeface="Alexandria" panose="020B0604020202020204" charset="-78"/>
                </a:endParaRPr>
              </a:p>
            </p:txBody>
          </p:sp>
        </mc:Choice>
        <mc:Fallback xmlns="">
          <p:sp>
            <p:nvSpPr>
              <p:cNvPr id="3" name="Google Shape;228;p38">
                <a:extLst>
                  <a:ext uri="{FF2B5EF4-FFF2-40B4-BE49-F238E27FC236}">
                    <a16:creationId xmlns:a16="http://schemas.microsoft.com/office/drawing/2014/main" id="{4D2D81AE-ACD0-456D-8552-4C88B2E6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0" y="843318"/>
                <a:ext cx="5309190" cy="3799566"/>
              </a:xfrm>
              <a:prstGeom prst="rect">
                <a:avLst/>
              </a:prstGeom>
              <a:blipFill>
                <a:blip r:embed="rId2"/>
                <a:stretch>
                  <a:fillRect l="-115" b="-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Hình ảnh 8">
            <a:extLst>
              <a:ext uri="{FF2B5EF4-FFF2-40B4-BE49-F238E27FC236}">
                <a16:creationId xmlns:a16="http://schemas.microsoft.com/office/drawing/2014/main" id="{5FD0D132-8CF4-47C2-B60B-8D6543571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670" y="1325303"/>
            <a:ext cx="3336892" cy="2492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C0B4C85E-A510-4B12-A7C0-5FC72D44619D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Bốn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thí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nghiệm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bắt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buộc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5110E"/>
              </a:solidFill>
              <a:effectLst/>
              <a:uLnTx/>
              <a:uFillTx/>
              <a:latin typeface="Alexandria" pitchFamily="2" charset="-78"/>
              <a:cs typeface="Alexandria" pitchFamily="2" charset="-78"/>
              <a:sym typeface="Alexandria Medium"/>
            </a:endParaRP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BD3CBA95-3B5F-40B9-9F68-2D794914E7E7}"/>
              </a:ext>
            </a:extLst>
          </p:cNvPr>
          <p:cNvSpPr txBox="1">
            <a:spLocks/>
          </p:cNvSpPr>
          <p:nvPr/>
        </p:nvSpPr>
        <p:spPr>
          <a:xfrm>
            <a:off x="439480" y="843318"/>
            <a:ext cx="8286306" cy="384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Nội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dung (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liệt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kê, chưa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có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kết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quả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):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So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sánh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vector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item-invoice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và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item-customer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So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sánh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với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bán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chạy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nhất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)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Khảo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sát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ngưỡng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tần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suất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min_freq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)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và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số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lượng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gợi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ý K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742950" lvl="1" indent="-285750">
              <a:lnSpc>
                <a:spcPct val="200000"/>
              </a:lnSpc>
              <a:buFont typeface="+mj-lt"/>
              <a:buAutoNum type="arabicPeriod"/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Ảnh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hưởng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của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quà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tặng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/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đóng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gói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(PADS, gift_0001_*, DCGSSGIRL, DCGSSBOY)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Đánh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giá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phương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pháp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leave-one-out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+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độ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đo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Hit-rate@K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Coverage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Tất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thí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nghiệm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chạy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trên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tập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validation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test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chỉ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dùng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ở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bước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cuố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i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8125F56E-354B-4F10-A542-DA7E27C2EC07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Cosine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so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với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Baseline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,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và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ngưỡng</a:t>
            </a:r>
            <a:r>
              <a:rPr kumimoji="0" lang="vi-VN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vi-V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min_freq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(2 &amp; 3)</a:t>
            </a: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53F59922-F680-4E5F-BB72-6598FA56A43D}"/>
              </a:ext>
            </a:extLst>
          </p:cNvPr>
          <p:cNvSpPr txBox="1">
            <a:spLocks/>
          </p:cNvSpPr>
          <p:nvPr/>
        </p:nvSpPr>
        <p:spPr>
          <a:xfrm>
            <a:off x="439480" y="3225209"/>
            <a:ext cx="8286306" cy="146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Ở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mọi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cấu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hình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vượt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4–7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lần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min_freq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cao →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Hit-rate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và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Coverage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tăng, nhưng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số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cặp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đánh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giá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giảm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đề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thi “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dễ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” hơn)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Chọn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min_freq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= 60: cân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giữa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độ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chính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xác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và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số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lượng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đánh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giá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công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(5.115/5.484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cặp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)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FF2BC0-91D5-4729-BAB0-D921535292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80" y="843317"/>
            <a:ext cx="3969818" cy="2381891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7BA4AC2A-2479-4B21-8A6E-79143E803B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177" y="843317"/>
            <a:ext cx="3969818" cy="2381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2FE92BC5-6216-4083-966A-4EE3DA330543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Cách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biểu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diễn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và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mã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quà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tặng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/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đóng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gói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(1 &amp; 4)</a:t>
            </a: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236AF0E1-6BF8-408A-9B4B-FBE8D67124D5}"/>
              </a:ext>
            </a:extLst>
          </p:cNvPr>
          <p:cNvSpPr txBox="1">
            <a:spLocks/>
          </p:cNvSpPr>
          <p:nvPr/>
        </p:nvSpPr>
        <p:spPr>
          <a:xfrm>
            <a:off x="439480" y="2962940"/>
            <a:ext cx="8286306" cy="172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TN1: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item-customer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nhỉnh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hơn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Hit-rate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nhưng </a:t>
            </a:r>
            <a:r>
              <a:rPr lang="en-US" sz="1200" kern="0" dirty="0" err="1">
                <a:latin typeface="Alexandria" panose="020B0604020202020204" charset="-78"/>
                <a:cs typeface="Alexandria" panose="020B0604020202020204" charset="-78"/>
              </a:rPr>
              <a:t>dữ</a:t>
            </a:r>
            <a:r>
              <a:rPr lang="en-US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en-US" sz="1200" kern="0" dirty="0" err="1">
                <a:latin typeface="Alexandria" panose="020B0604020202020204" charset="-78"/>
                <a:cs typeface="Alexandria" panose="020B0604020202020204" charset="-78"/>
              </a:rPr>
              <a:t>liệu</a:t>
            </a:r>
            <a:r>
              <a:rPr lang="en-US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hơn 24% (do 22,8%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thiếu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Customer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ID) →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chọn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item-invoice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vì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công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và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dùng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được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cho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khách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chưa đăng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nhập</a:t>
            </a:r>
            <a:r>
              <a:rPr lang="en-US" sz="1200" kern="0" dirty="0">
                <a:latin typeface="Alexandria" panose="020B0604020202020204" charset="-78"/>
                <a:cs typeface="Alexandria" panose="020B0604020202020204" charset="-78"/>
              </a:rPr>
              <a:t>.</a:t>
            </a:r>
          </a:p>
          <a:p>
            <a:pPr marL="285750" indent="-285750">
              <a:lnSpc>
                <a:spcPct val="200000"/>
              </a:lnSpc>
            </a:pP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TN4: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Giữ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/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loại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mã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quà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tặng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Hit-rate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không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đổi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(do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mã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quà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tặng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đã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quá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hiếm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tự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động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bị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loại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bởi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ngưỡng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min_freq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=60) →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loại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vì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lý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do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thực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tiễn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, không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phải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vì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cải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thiện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số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liệu</a:t>
            </a:r>
            <a:r>
              <a:rPr lang="en-US" sz="1200" kern="0">
                <a:latin typeface="Alexandria" panose="020B0604020202020204" charset="-78"/>
                <a:cs typeface="Alexandria" panose="020B0604020202020204" charset="-78"/>
              </a:rPr>
              <a:t>.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5E4CE58C-B01D-4EE0-A7C7-F96C59EC85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81" y="843318"/>
            <a:ext cx="3437860" cy="2062716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C92B5006-350C-49CF-B27A-C564D5C77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567" y="836632"/>
            <a:ext cx="3707219" cy="2069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AF92D938-7F1C-4D76-A620-2BCBF5651AB8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Kết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quả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cuối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cùng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trên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tập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kiểm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tra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(Test)</a:t>
            </a: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0BFDD747-D1BA-4DEF-8520-D89C606BCF24}"/>
              </a:ext>
            </a:extLst>
          </p:cNvPr>
          <p:cNvSpPr txBox="1">
            <a:spLocks/>
          </p:cNvSpPr>
          <p:nvPr/>
        </p:nvSpPr>
        <p:spPr>
          <a:xfrm>
            <a:off x="439480" y="8433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Cấu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hình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đóng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băng: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item-invoice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min_freq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=60, K=20,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loại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quà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tặng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6" name="Google Shape;228;p38">
            <a:extLst>
              <a:ext uri="{FF2B5EF4-FFF2-40B4-BE49-F238E27FC236}">
                <a16:creationId xmlns:a16="http://schemas.microsoft.com/office/drawing/2014/main" id="{F29F8ADD-371B-4BFD-97BB-D4D492657ADC}"/>
              </a:ext>
            </a:extLst>
          </p:cNvPr>
          <p:cNvSpPr txBox="1">
            <a:spLocks/>
          </p:cNvSpPr>
          <p:nvPr/>
        </p:nvSpPr>
        <p:spPr>
          <a:xfrm>
            <a:off x="439480" y="3959140"/>
            <a:ext cx="8286306" cy="107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Validation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≈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Test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(chênh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lệch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0,002) →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bằng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chứng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không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rò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rỉ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dữ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liệu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Kết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luận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hơn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≈ 4,5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lần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35E380EE-BB0B-4E7D-A02C-C91E316F08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876" y="1392018"/>
            <a:ext cx="4520248" cy="2712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73B2261D-1857-4F86-8294-7C2291B6DB81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Phân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tích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lỗi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mô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hình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5110E"/>
              </a:solidFill>
              <a:effectLst/>
              <a:uLnTx/>
              <a:uFillTx/>
              <a:latin typeface="Alexandria" pitchFamily="2" charset="-78"/>
              <a:cs typeface="Alexandria" pitchFamily="2" charset="-78"/>
              <a:sym typeface="Alexandria Medium"/>
            </a:endParaRP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85AC6121-E1D3-45E3-BEFE-EF2331367FC9}"/>
              </a:ext>
            </a:extLst>
          </p:cNvPr>
          <p:cNvSpPr txBox="1">
            <a:spLocks/>
          </p:cNvSpPr>
          <p:nvPr/>
        </p:nvSpPr>
        <p:spPr>
          <a:xfrm>
            <a:off x="439480" y="3345508"/>
            <a:ext cx="8286306" cy="166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hiếm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→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Hit-rate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thấp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(0,150 ở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nhóm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150–500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hóa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đơn, 0,447 ở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nhóm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&gt;5.000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hóa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đơn)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lớn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→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Hit-rate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càng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thấp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(0,447 ở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2–3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chỉ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0,164 ở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&gt;30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sp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) —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ngược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trực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giác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, do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điểm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bị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phân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tán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khi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giỏ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nhiều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chủng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loại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(nghi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vấn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bán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sz="1200" kern="0" dirty="0" err="1">
                <a:latin typeface="Alexandria" panose="020B0604020202020204" charset="-78"/>
                <a:cs typeface="Alexandria" panose="020B0604020202020204" charset="-78"/>
              </a:rPr>
              <a:t>sỉ</a:t>
            </a:r>
            <a:r>
              <a:rPr lang="vi-VN" sz="1200" kern="0" dirty="0">
                <a:latin typeface="Alexandria" panose="020B0604020202020204" charset="-78"/>
                <a:cs typeface="Alexandria" panose="020B0604020202020204" charset="-78"/>
              </a:rPr>
              <a:t>)</a:t>
            </a:r>
            <a:endParaRPr lang="en-US" sz="1200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28F35B8-B732-4DE5-B414-C6A10161B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80" y="843318"/>
            <a:ext cx="4017074" cy="241024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1D7CEEE8-2AEB-4D83-97E3-F33F2F9476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710" y="843318"/>
            <a:ext cx="4017075" cy="2410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092C4A6D-D5BF-4403-86CA-9E0083A9E45B}"/>
              </a:ext>
            </a:extLst>
          </p:cNvPr>
          <p:cNvSpPr txBox="1">
            <a:spLocks/>
          </p:cNvSpPr>
          <p:nvPr/>
        </p:nvSpPr>
        <p:spPr>
          <a:xfrm>
            <a:off x="439480" y="294618"/>
            <a:ext cx="828630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3000"/>
              <a:buFont typeface="Alexandria Medium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Ứng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dụng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web &amp;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Kết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5110E"/>
                </a:solidFill>
                <a:effectLst/>
                <a:uLnTx/>
                <a:uFillTx/>
                <a:latin typeface="Alexandria" pitchFamily="2" charset="-78"/>
                <a:cs typeface="Alexandria" pitchFamily="2" charset="-78"/>
                <a:sym typeface="Alexandria Medium"/>
              </a:rPr>
              <a:t>luận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5110E"/>
              </a:solidFill>
              <a:effectLst/>
              <a:uLnTx/>
              <a:uFillTx/>
              <a:latin typeface="Alexandria" pitchFamily="2" charset="-78"/>
              <a:cs typeface="Alexandria" pitchFamily="2" charset="-78"/>
              <a:sym typeface="Alexandria Medium"/>
            </a:endParaRPr>
          </a:p>
        </p:txBody>
      </p:sp>
      <p:sp>
        <p:nvSpPr>
          <p:cNvPr id="3" name="Google Shape;228;p38">
            <a:extLst>
              <a:ext uri="{FF2B5EF4-FFF2-40B4-BE49-F238E27FC236}">
                <a16:creationId xmlns:a16="http://schemas.microsoft.com/office/drawing/2014/main" id="{AB406350-47C0-4D98-A6DF-8D7873070E82}"/>
              </a:ext>
            </a:extLst>
          </p:cNvPr>
          <p:cNvSpPr txBox="1">
            <a:spLocks/>
          </p:cNvSpPr>
          <p:nvPr/>
        </p:nvSpPr>
        <p:spPr>
          <a:xfrm>
            <a:off x="439480" y="843318"/>
            <a:ext cx="8286306" cy="384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Ứng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dụng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FastAPI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+ 3 trang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web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(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Giới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thiệu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/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Tìm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kiếm-gợi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ý /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Dashboard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),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tách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train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khỏi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serving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API 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chính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en-US" kern="0" dirty="0">
                <a:solidFill>
                  <a:srgbClr val="FF0000"/>
                </a:solidFill>
                <a:latin typeface="Alexandria" panose="020B0604020202020204" charset="-78"/>
                <a:cs typeface="Alexandria" panose="020B0604020202020204" charset="-78"/>
              </a:rPr>
              <a:t>GET /</a:t>
            </a:r>
            <a:r>
              <a:rPr lang="en-US" kern="0" dirty="0" err="1">
                <a:solidFill>
                  <a:srgbClr val="FF0000"/>
                </a:solidFill>
                <a:latin typeface="Alexandria" panose="020B0604020202020204" charset="-78"/>
                <a:cs typeface="Alexandria" panose="020B0604020202020204" charset="-78"/>
              </a:rPr>
              <a:t>api</a:t>
            </a:r>
            <a:r>
              <a:rPr lang="en-US" kern="0" dirty="0">
                <a:solidFill>
                  <a:srgbClr val="FF0000"/>
                </a:solidFill>
                <a:latin typeface="Alexandria" panose="020B0604020202020204" charset="-78"/>
                <a:cs typeface="Alexandria" panose="020B0604020202020204" charset="-78"/>
              </a:rPr>
              <a:t>/</a:t>
            </a:r>
            <a:r>
              <a:rPr lang="en-US" kern="0" dirty="0" err="1">
                <a:solidFill>
                  <a:srgbClr val="FF0000"/>
                </a:solidFill>
                <a:latin typeface="Alexandria" panose="020B0604020202020204" charset="-78"/>
                <a:cs typeface="Alexandria" panose="020B0604020202020204" charset="-78"/>
              </a:rPr>
              <a:t>similar-items?stock_code</a:t>
            </a:r>
            <a:r>
              <a:rPr lang="en-US" kern="0" dirty="0">
                <a:solidFill>
                  <a:srgbClr val="FF0000"/>
                </a:solidFill>
                <a:latin typeface="Alexandria" panose="020B0604020202020204" charset="-78"/>
                <a:cs typeface="Alexandria" panose="020B0604020202020204" charset="-78"/>
              </a:rPr>
              <a:t>=&amp;k= 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có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 validate, 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trả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lỗi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 404/422 </a:t>
            </a:r>
            <a:r>
              <a:rPr lang="en-US" kern="0" dirty="0" err="1">
                <a:latin typeface="Alexandria" panose="020B0604020202020204" charset="-78"/>
                <a:cs typeface="Alexandria" panose="020B0604020202020204" charset="-78"/>
              </a:rPr>
              <a:t>rõ</a:t>
            </a:r>
            <a:r>
              <a:rPr lang="en-US" kern="0" dirty="0">
                <a:latin typeface="Alexandria" panose="020B0604020202020204" charset="-78"/>
                <a:cs typeface="Alexandria" panose="020B0604020202020204" charset="-78"/>
              </a:rPr>
              <a:t> rang</a:t>
            </a: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Kết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luận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Cosine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trên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vector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item-invoice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trả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lời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“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có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” cho câu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hỏi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nghiên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cứu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— Hit-rate@20 = 0,314,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gấp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4,5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lần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baseline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không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rò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rỉ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dữ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liệu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đã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đóng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gói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thành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sản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phẩm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hoàn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chỉnh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lnSpc>
                <a:spcPct val="200000"/>
              </a:lnSpc>
            </a:pP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Hướng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mở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rộng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: chia theo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thời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gian,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tái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xếp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hạng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đa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dạng</a:t>
            </a:r>
            <a:r>
              <a:rPr lang="vi-VN" kern="0" dirty="0">
                <a:latin typeface="Alexandria" panose="020B0604020202020204" charset="-78"/>
                <a:cs typeface="Alexandria" panose="020B0604020202020204" charset="-78"/>
              </a:rPr>
              <a:t> danh </a:t>
            </a:r>
            <a:r>
              <a:rPr lang="vi-VN" kern="0" dirty="0" err="1">
                <a:latin typeface="Alexandria" panose="020B0604020202020204" charset="-78"/>
                <a:cs typeface="Alexandria" panose="020B0604020202020204" charset="-78"/>
              </a:rPr>
              <a:t>mục</a:t>
            </a:r>
            <a:endParaRPr lang="en-US" kern="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2"/>
          <p:cNvSpPr>
            <a:spLocks noGrp="1"/>
          </p:cNvSpPr>
          <p:nvPr>
            <p:ph type="title"/>
          </p:nvPr>
        </p:nvSpPr>
        <p:spPr>
          <a:xfrm>
            <a:off x="1348290" y="1979280"/>
            <a:ext cx="6447420" cy="11849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500" b="1" u="none" strike="noStrike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Thanks!</a:t>
            </a:r>
            <a:endParaRPr lang="fr-FR" sz="6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64" name="Google Shape;2431;p64"/>
          <p:cNvGrpSpPr/>
          <p:nvPr/>
        </p:nvGrpSpPr>
        <p:grpSpPr>
          <a:xfrm>
            <a:off x="6774120" y="-1204920"/>
            <a:ext cx="4151520" cy="5527080"/>
            <a:chOff x="6774120" y="-1204920"/>
            <a:chExt cx="4151520" cy="5527080"/>
          </a:xfrm>
        </p:grpSpPr>
        <p:sp>
          <p:nvSpPr>
            <p:cNvPr id="365" name="Google Shape;2433;p64"/>
            <p:cNvSpPr/>
            <p:nvPr/>
          </p:nvSpPr>
          <p:spPr>
            <a:xfrm rot="10800000" flipV="1">
              <a:off x="8072640" y="-34956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2434;p64"/>
            <p:cNvSpPr/>
            <p:nvPr/>
          </p:nvSpPr>
          <p:spPr>
            <a:xfrm rot="10800000" flipV="1">
              <a:off x="8241480" y="-350280"/>
              <a:ext cx="1039320" cy="2443680"/>
            </a:xfrm>
            <a:custGeom>
              <a:avLst/>
              <a:gdLst>
                <a:gd name="textAreaLeft" fmla="*/ 0 w 1039320"/>
                <a:gd name="textAreaRight" fmla="*/ 1039680 w 1039320"/>
                <a:gd name="textAreaTop" fmla="*/ 360 h 2443680"/>
                <a:gd name="textAreaBottom" fmla="*/ 2444400 h 2443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435;p64"/>
            <p:cNvSpPr/>
            <p:nvPr/>
          </p:nvSpPr>
          <p:spPr>
            <a:xfrm flipV="1">
              <a:off x="6774120" y="-1098720"/>
              <a:ext cx="3339000" cy="5420880"/>
            </a:xfrm>
            <a:custGeom>
              <a:avLst/>
              <a:gdLst>
                <a:gd name="textAreaLeft" fmla="*/ 0 w 3339000"/>
                <a:gd name="textAreaRight" fmla="*/ 3339360 w 3339000"/>
                <a:gd name="textAreaTop" fmla="*/ 360 h 5420880"/>
                <a:gd name="textAreaBottom" fmla="*/ 5421600 h 54208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8" name="Google Shape;2436;p64"/>
            <p:cNvGrpSpPr/>
            <p:nvPr/>
          </p:nvGrpSpPr>
          <p:grpSpPr>
            <a:xfrm>
              <a:off x="7802280" y="653040"/>
              <a:ext cx="615960" cy="615960"/>
              <a:chOff x="7802280" y="653040"/>
              <a:chExt cx="615960" cy="615960"/>
            </a:xfrm>
          </p:grpSpPr>
          <p:sp>
            <p:nvSpPr>
              <p:cNvPr id="369" name="Google Shape;2437;p64"/>
              <p:cNvSpPr/>
              <p:nvPr/>
            </p:nvSpPr>
            <p:spPr>
              <a:xfrm flipV="1">
                <a:off x="7802280" y="65304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2438;p64"/>
              <p:cNvSpPr/>
              <p:nvPr/>
            </p:nvSpPr>
            <p:spPr>
              <a:xfrm flipV="1">
                <a:off x="7882920" y="732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520" bIns="65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1" name="Google Shape;2439;p64"/>
              <p:cNvSpPr/>
              <p:nvPr/>
            </p:nvSpPr>
            <p:spPr>
              <a:xfrm flipV="1">
                <a:off x="7963920" y="814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2440;p64"/>
              <p:cNvSpPr/>
              <p:nvPr/>
            </p:nvSpPr>
            <p:spPr>
              <a:xfrm flipV="1">
                <a:off x="8044560" y="895680"/>
                <a:ext cx="130680" cy="130320"/>
              </a:xfrm>
              <a:custGeom>
                <a:avLst/>
                <a:gdLst>
                  <a:gd name="textAreaLeft" fmla="*/ 0 w 130680"/>
                  <a:gd name="textAreaRight" fmla="*/ 131040 w 13068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2441;p64"/>
              <p:cNvSpPr/>
              <p:nvPr/>
            </p:nvSpPr>
            <p:spPr>
              <a:xfrm flipV="1">
                <a:off x="8125920" y="97632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2442;p64"/>
              <p:cNvSpPr/>
              <p:nvPr/>
            </p:nvSpPr>
            <p:spPr>
              <a:xfrm flipV="1">
                <a:off x="8206560" y="1057680"/>
                <a:ext cx="130320" cy="13032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360 h 130320"/>
                  <a:gd name="textAreaBottom" fmla="*/ 131040 h 1303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2443;p64"/>
              <p:cNvSpPr/>
              <p:nvPr/>
            </p:nvSpPr>
            <p:spPr>
              <a:xfrm flipV="1">
                <a:off x="8287920" y="1137960"/>
                <a:ext cx="130320" cy="130680"/>
              </a:xfrm>
              <a:custGeom>
                <a:avLst/>
                <a:gdLst>
                  <a:gd name="textAreaLeft" fmla="*/ 0 w 130320"/>
                  <a:gd name="textAreaRight" fmla="*/ 130680 w 130320"/>
                  <a:gd name="textAreaTop" fmla="*/ -360 h 130680"/>
                  <a:gd name="textAreaBottom" fmla="*/ 130680 h 1306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520" bIns="65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6" name="Google Shape;2444;p64"/>
            <p:cNvGrpSpPr/>
            <p:nvPr/>
          </p:nvGrpSpPr>
          <p:grpSpPr>
            <a:xfrm>
              <a:off x="8276760" y="1334520"/>
              <a:ext cx="141480" cy="141480"/>
              <a:chOff x="8276760" y="1334520"/>
              <a:chExt cx="141480" cy="141480"/>
            </a:xfrm>
          </p:grpSpPr>
          <p:sp>
            <p:nvSpPr>
              <p:cNvPr id="377" name="Google Shape;2445;p64"/>
              <p:cNvSpPr/>
              <p:nvPr/>
            </p:nvSpPr>
            <p:spPr>
              <a:xfrm flipV="1">
                <a:off x="8276760" y="1334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040" bIns="50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8" name="Google Shape;2446;p64"/>
              <p:cNvSpPr/>
              <p:nvPr/>
            </p:nvSpPr>
            <p:spPr>
              <a:xfrm flipV="1">
                <a:off x="8296560" y="135504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0" bIns="36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9" name="Google Shape;2447;p64"/>
            <p:cNvGrpSpPr/>
            <p:nvPr/>
          </p:nvGrpSpPr>
          <p:grpSpPr>
            <a:xfrm>
              <a:off x="7869960" y="1730520"/>
              <a:ext cx="141480" cy="141480"/>
              <a:chOff x="7869960" y="1730520"/>
              <a:chExt cx="141480" cy="141480"/>
            </a:xfrm>
          </p:grpSpPr>
          <p:sp>
            <p:nvSpPr>
              <p:cNvPr id="380" name="Google Shape;2448;p64"/>
              <p:cNvSpPr/>
              <p:nvPr/>
            </p:nvSpPr>
            <p:spPr>
              <a:xfrm flipV="1">
                <a:off x="7869960" y="173016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040" bIns="50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2449;p64"/>
              <p:cNvSpPr/>
              <p:nvPr/>
            </p:nvSpPr>
            <p:spPr>
              <a:xfrm flipV="1">
                <a:off x="7889760" y="175068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0" bIns="36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2" name="Google Shape;2450;p64"/>
            <p:cNvGrpSpPr/>
            <p:nvPr/>
          </p:nvGrpSpPr>
          <p:grpSpPr>
            <a:xfrm>
              <a:off x="8921880" y="2457000"/>
              <a:ext cx="141480" cy="141480"/>
              <a:chOff x="8921880" y="2457000"/>
              <a:chExt cx="141480" cy="141480"/>
            </a:xfrm>
          </p:grpSpPr>
          <p:sp>
            <p:nvSpPr>
              <p:cNvPr id="383" name="Google Shape;2451;p64"/>
              <p:cNvSpPr/>
              <p:nvPr/>
            </p:nvSpPr>
            <p:spPr>
              <a:xfrm flipV="1">
                <a:off x="8921880" y="2456640"/>
                <a:ext cx="141480" cy="14148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040" bIns="50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452;p64"/>
              <p:cNvSpPr/>
              <p:nvPr/>
            </p:nvSpPr>
            <p:spPr>
              <a:xfrm flipV="1">
                <a:off x="8942040" y="2477520"/>
                <a:ext cx="101520" cy="1015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0" bIns="36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5" name="Google Shape;2453;p64"/>
            <p:cNvSpPr/>
            <p:nvPr/>
          </p:nvSpPr>
          <p:spPr>
            <a:xfrm flipV="1">
              <a:off x="9020520" y="1693440"/>
              <a:ext cx="509040" cy="503640"/>
            </a:xfrm>
            <a:custGeom>
              <a:avLst/>
              <a:gdLst>
                <a:gd name="textAreaLeft" fmla="*/ 0 w 509040"/>
                <a:gd name="textAreaRight" fmla="*/ 509400 w 509040"/>
                <a:gd name="textAreaTop" fmla="*/ -360 h 503640"/>
                <a:gd name="textAreaBottom" fmla="*/ 503640 h 503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86" name="Google Shape;2454;p64"/>
            <p:cNvGrpSpPr/>
            <p:nvPr/>
          </p:nvGrpSpPr>
          <p:grpSpPr>
            <a:xfrm>
              <a:off x="8921880" y="-238320"/>
              <a:ext cx="740880" cy="1747800"/>
              <a:chOff x="8921880" y="-238320"/>
              <a:chExt cx="740880" cy="1747800"/>
            </a:xfrm>
          </p:grpSpPr>
          <p:sp>
            <p:nvSpPr>
              <p:cNvPr id="387" name="Google Shape;2455;p64"/>
              <p:cNvSpPr/>
              <p:nvPr/>
            </p:nvSpPr>
            <p:spPr>
              <a:xfrm flipV="1">
                <a:off x="8921880" y="435960"/>
                <a:ext cx="511200" cy="1073160"/>
              </a:xfrm>
              <a:custGeom>
                <a:avLst/>
                <a:gdLst>
                  <a:gd name="textAreaLeft" fmla="*/ 0 w 511200"/>
                  <a:gd name="textAreaRight" fmla="*/ 511560 w 511200"/>
                  <a:gd name="textAreaTop" fmla="*/ -360 h 1073160"/>
                  <a:gd name="textAreaBottom" fmla="*/ 1073160 h 107316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456;p64"/>
              <p:cNvSpPr/>
              <p:nvPr/>
            </p:nvSpPr>
            <p:spPr>
              <a:xfrm flipV="1">
                <a:off x="9303840" y="-23832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2457;p64"/>
              <p:cNvSpPr/>
              <p:nvPr/>
            </p:nvSpPr>
            <p:spPr>
              <a:xfrm flipV="1">
                <a:off x="9401760" y="-139680"/>
                <a:ext cx="261000" cy="1298880"/>
              </a:xfrm>
              <a:custGeom>
                <a:avLst/>
                <a:gdLst>
                  <a:gd name="textAreaLeft" fmla="*/ 0 w 261000"/>
                  <a:gd name="textAreaRight" fmla="*/ 261360 w 261000"/>
                  <a:gd name="textAreaTop" fmla="*/ 360 h 1298880"/>
                  <a:gd name="textAreaBottom" fmla="*/ 1299600 h 129888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0" name="Google Shape;2458;p64"/>
            <p:cNvGrpSpPr/>
            <p:nvPr/>
          </p:nvGrpSpPr>
          <p:grpSpPr>
            <a:xfrm>
              <a:off x="8506080" y="-115920"/>
              <a:ext cx="957600" cy="768600"/>
              <a:chOff x="8506080" y="-115920"/>
              <a:chExt cx="957600" cy="768600"/>
            </a:xfrm>
          </p:grpSpPr>
          <p:sp>
            <p:nvSpPr>
              <p:cNvPr id="391" name="Google Shape;2459;p64"/>
              <p:cNvSpPr/>
              <p:nvPr/>
            </p:nvSpPr>
            <p:spPr>
              <a:xfrm flipV="1">
                <a:off x="8751240" y="-115920"/>
                <a:ext cx="712440" cy="617040"/>
              </a:xfrm>
              <a:custGeom>
                <a:avLst/>
                <a:gdLst>
                  <a:gd name="textAreaLeft" fmla="*/ 0 w 712440"/>
                  <a:gd name="textAreaRight" fmla="*/ 712800 w 712440"/>
                  <a:gd name="textAreaTop" fmla="*/ 360 h 617040"/>
                  <a:gd name="textAreaBottom" fmla="*/ 617760 h 617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2460;p64"/>
              <p:cNvSpPr/>
              <p:nvPr/>
            </p:nvSpPr>
            <p:spPr>
              <a:xfrm flipV="1">
                <a:off x="8738280" y="21168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2461;p64"/>
              <p:cNvSpPr/>
              <p:nvPr/>
            </p:nvSpPr>
            <p:spPr>
              <a:xfrm flipV="1">
                <a:off x="8506080" y="59760"/>
                <a:ext cx="509040" cy="440640"/>
              </a:xfrm>
              <a:custGeom>
                <a:avLst/>
                <a:gdLst>
                  <a:gd name="textAreaLeft" fmla="*/ 0 w 509040"/>
                  <a:gd name="textAreaRight" fmla="*/ 509400 w 509040"/>
                  <a:gd name="textAreaTop" fmla="*/ 360 h 440640"/>
                  <a:gd name="textAreaBottom" fmla="*/ 441360 h 440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4" name="Google Shape;2462;p64"/>
            <p:cNvSpPr/>
            <p:nvPr/>
          </p:nvSpPr>
          <p:spPr>
            <a:xfrm rot="16200000" flipV="1">
              <a:off x="8232840" y="1123920"/>
              <a:ext cx="1504440" cy="3000240"/>
            </a:xfrm>
            <a:custGeom>
              <a:avLst/>
              <a:gdLst>
                <a:gd name="textAreaLeft" fmla="*/ 0 w 1504440"/>
                <a:gd name="textAreaRight" fmla="*/ 1504800 w 1504440"/>
                <a:gd name="textAreaTop" fmla="*/ 360 h 3000240"/>
                <a:gd name="textAreaBottom" fmla="*/ 3000960 h 30002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" name="Hình ảnh 2">
            <a:extLst>
              <a:ext uri="{FF2B5EF4-FFF2-40B4-BE49-F238E27FC236}">
                <a16:creationId xmlns:a16="http://schemas.microsoft.com/office/drawing/2014/main" id="{02193D53-A79E-4D74-BA36-B9F08D5F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09" y="3211033"/>
            <a:ext cx="5431254" cy="956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</TotalTime>
  <Words>860</Words>
  <Application>Microsoft Office PowerPoint</Application>
  <PresentationFormat>Trình chiếu Trên màn hình (16:9)</PresentationFormat>
  <Paragraphs>51</Paragraphs>
  <Slides>12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10</vt:i4>
      </vt:variant>
      <vt:variant>
        <vt:lpstr>Chủ đề</vt:lpstr>
      </vt:variant>
      <vt:variant>
        <vt:i4>4</vt:i4>
      </vt:variant>
      <vt:variant>
        <vt:lpstr>Tiêu đề Bản chiếu</vt:lpstr>
      </vt:variant>
      <vt:variant>
        <vt:i4>12</vt:i4>
      </vt:variant>
    </vt:vector>
  </HeadingPairs>
  <TitlesOfParts>
    <vt:vector size="26" baseType="lpstr">
      <vt:lpstr>Albert Sans</vt:lpstr>
      <vt:lpstr>Alexandria</vt:lpstr>
      <vt:lpstr>Alexandria Medium</vt:lpstr>
      <vt:lpstr>Arial</vt:lpstr>
      <vt:lpstr>Cambria Math</vt:lpstr>
      <vt:lpstr>IBM Plex Mono</vt:lpstr>
      <vt:lpstr>OpenSymbol</vt:lpstr>
      <vt:lpstr>Poppins</vt:lpstr>
      <vt:lpstr>Symbol</vt:lpstr>
      <vt:lpstr>Wingdings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cp:lastModifiedBy>Nguyen Minh</cp:lastModifiedBy>
  <cp:revision>16</cp:revision>
  <dcterms:modified xsi:type="dcterms:W3CDTF">2026-10-12T04:32:48Z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2026-10-10T04:04:10Z</dcterms:created>
  <dc:creator>Slidesgo AI</dc:creator>
  <dc:description/>
  <dc:language>en-US</dc:language>
  <cp:lastModifiedBy>Unknown Creator</cp:lastModifiedBy>
  <dcterms:modified xsi:type="dcterms:W3CDTF">2026-10-10T04:04:10Z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a2f2086c-f2ed-480a-9a72-ab48ce4561d4</vt:lpwstr>
  </property>
</Properties>
</file>